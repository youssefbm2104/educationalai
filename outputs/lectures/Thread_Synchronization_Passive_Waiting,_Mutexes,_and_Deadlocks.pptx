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'Entry' phase is the gatekeeper. Contrast active waiting (like a 'spin-lock') with passive waiting (like a sleep/wake mechanism). Emphasize that while passive waiting saves CPU cycles by making the thread non-schedulable, it introduces the overhead of context switching when the thread is woken up during the 'Exit'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this clearly with active waiting (busy-waiting). Emphasize that the primary advantage here is CPU efficiency—we aren't wasting cycles checking a condition. Highlight the lifecycle: Entry (Block) -&gt; Sleep (Non-schedulable) -&gt; Exit (Wake up) -&gt;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trade-off between performance and usability: while passive waiting (blocking) has a higher overhead than spinning (active waiting) due to context switching, it is far more programmer-friendly. Walk the students through the pthread sequence: Initialize -&gt; Lock -&gt; Execute -&gt; Unlock -&gt; Destroy.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deadlocks are often the result of non-deterministic CPU scheduling. Explain that the 'waiting for resources' graph is the primary tool for detection—if you see a loop/cycle in that graph, you have a deadlock. Mention that this is a critical risk when using mutual exclusion 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deadlocks are often the result of non-deterministic CPU scheduling. Emphasize that the 'waiting for resources' graph is the primary tool for detection. When discussing prevention, explain that by assigning a strict order (e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Thread Synchronization: Passive Waiting, Mutexes, and Deadlocks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Critical Sections and Waiting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Entry: Thread blocks until the critical section is free</a:t>
            </a:r>
          </a:p>
          <a:p>
            <a:pPr>
              <a:defRPr sz="1800"/>
            </a:pPr>
            <a:r>
              <a:t>In CS: Thread utilizes the shared resource</a:t>
            </a:r>
          </a:p>
          <a:p>
            <a:pPr>
              <a:defRPr sz="1800"/>
            </a:pPr>
            <a:r>
              <a:t>Exit: Grants access to other waiting threads</a:t>
            </a:r>
          </a:p>
          <a:p>
            <a:pPr>
              <a:defRPr sz="1800"/>
            </a:pPr>
            <a:r>
              <a:t>Active waiting: Continuous testing of variables for entry</a:t>
            </a:r>
          </a:p>
          <a:p>
            <a:pPr>
              <a:defRPr sz="1800"/>
            </a:pPr>
            <a:r>
              <a:t>Passive waiting: Thread blocks and relinquishes the CPU</a:t>
            </a:r>
          </a:p>
          <a:p>
            <a:pPr>
              <a:defRPr sz="1200" i="1">
                <a:solidFill>
                  <a:srgbClr val="808080"/>
                </a:solidFill>
              </a:defRPr>
            </a:pPr>
            <a:r>
              <a:t>💡 A flow diagram showing Entry -&gt; Critical Section -&gt; Exit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Passive Waiting and 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Passive waiting uses blocking to relinquish the CPU</a:t>
            </a:r>
          </a:p>
          <a:p>
            <a:pPr>
              <a:defRPr sz="1800"/>
            </a:pPr>
            <a:r>
              <a:t>Blocked threads become non-schedulable and enter sleep state</a:t>
            </a:r>
          </a:p>
          <a:p>
            <a:pPr>
              <a:defRPr sz="1800"/>
            </a:pPr>
            <a:r>
              <a:t>Exit phase grants access to other waiting threads</a:t>
            </a:r>
          </a:p>
          <a:p>
            <a:pPr>
              <a:defRPr sz="1800"/>
            </a:pPr>
            <a:r>
              <a:t>System wakes up one sleeping thread to resume execution</a:t>
            </a:r>
          </a:p>
          <a:p>
            <a:pPr>
              <a:defRPr sz="1200" i="1">
                <a:solidFill>
                  <a:srgbClr val="808080"/>
                </a:solidFill>
              </a:defRPr>
            </a:pPr>
            <a:r>
              <a:t>💡 Illustration of a thread moving from 'Running' to 'Blocked/Sleep'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Exclusion with Mutexes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Mutexes are passive waiting solutions for mutual exclusion</a:t>
            </a:r>
          </a:p>
          <a:p>
            <a:pPr>
              <a:defRPr sz="1800"/>
            </a:pPr>
            <a:r>
              <a:t>CPU is relinquished, making them costlier but easier</a:t>
            </a:r>
          </a:p>
          <a:p>
            <a:pPr>
              <a:defRPr sz="1800"/>
            </a:pPr>
            <a:r>
              <a:t>Implemented via pthread locks or Java's synchronized keyword</a:t>
            </a:r>
          </a:p>
          <a:p>
            <a:pPr>
              <a:defRPr sz="1800"/>
            </a:pPr>
            <a:r>
              <a:t>Only one thread can own the mutex at a time</a:t>
            </a:r>
          </a:p>
          <a:p>
            <a:pPr>
              <a:defRPr sz="1200" i="1">
                <a:solidFill>
                  <a:srgbClr val="808080"/>
                </a:solidFill>
              </a:defRPr>
            </a:pPr>
            <a:r>
              <a:t>💡 Icon of a lock and key representing a mutex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Deadlock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Deadlock: two or more threads circularly block themselves</a:t>
            </a:r>
          </a:p>
          <a:p>
            <a:pPr>
              <a:defRPr sz="1800"/>
            </a:pPr>
            <a:r>
              <a:t>Requires exclusive access to shared resources held by others</a:t>
            </a:r>
          </a:p>
          <a:p>
            <a:pPr>
              <a:defRPr sz="1800"/>
            </a:pPr>
            <a:r>
              <a:t>Results in a fatal stall where no activity proceeds</a:t>
            </a:r>
          </a:p>
          <a:p>
            <a:pPr>
              <a:defRPr sz="1800"/>
            </a:pPr>
            <a:r>
              <a:t>Detected by identifying cycles in 'waiting for resources' graphs</a:t>
            </a:r>
          </a:p>
          <a:p>
            <a:pPr>
              <a:defRPr sz="1200" i="1">
                <a:solidFill>
                  <a:srgbClr val="808080"/>
                </a:solidFill>
              </a:defRPr>
            </a:pPr>
            <a:r>
              <a:t>💡 A circular diagram showing Thread A waiting for B, and B waiting for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Deadlock Detection and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Deadlocks occur during simultaneous exclusive access to resources</a:t>
            </a:r>
          </a:p>
          <a:p>
            <a:pPr>
              <a:defRPr sz="1800"/>
            </a:pPr>
            <a:r>
              <a:t>Runtime systems use 'waiting for resources' graphs for detection</a:t>
            </a:r>
          </a:p>
          <a:p>
            <a:pPr>
              <a:defRPr sz="1800"/>
            </a:pPr>
            <a:r>
              <a:t>A cycle in the resource graph indicates a deadlock</a:t>
            </a:r>
          </a:p>
          <a:p>
            <a:pPr>
              <a:defRPr sz="1800"/>
            </a:pPr>
            <a:r>
              <a:t>Resource ordering prevents deadlocks by imposing request sequence</a:t>
            </a:r>
          </a:p>
          <a:p>
            <a:pPr>
              <a:defRPr sz="1200" i="1">
                <a:solidFill>
                  <a:srgbClr val="808080"/>
                </a:solidFill>
              </a:defRPr>
            </a:pPr>
            <a:r>
              <a:t>💡 A graph showing a cycle vs. a linear ordered request sequence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